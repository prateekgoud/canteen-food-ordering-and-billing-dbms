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2" id="{7644fa64-c47f-78f7-f1b4-7fa785754ef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280160"/>
            <a:ext cx="76809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Canteen Food Ordering &amp; Billing DBMS  |  Project 07  |  Review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1"/>
          <p:cNvSpPr/>
          <p:nvPr/>
        </p:nvSpPr>
        <p:spPr>
          <a:xfrm>
            <a:off x="8686800" y="731520"/>
            <a:ext cx="3108960" cy="3108960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2"/>
          <p:cNvSpPr/>
          <p:nvPr/>
        </p:nvSpPr>
        <p:spPr>
          <a:xfrm>
            <a:off x="9966960" y="3566160"/>
            <a:ext cx="1737360" cy="1737360"/>
          </a:xfrm>
          <a:prstGeom prst="ellipse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2801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Canteen Food Ordering &amp; Billing Management System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840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DBMS Project 07  |  Review 2 (Week 11)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Normalization, constraints, queries and prototype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669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Presented by: Prateek and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we are since Review 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12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tables in 3NF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triggers for business rules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7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reporting views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1645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billing procedure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31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Schema, sample data, SQL queries and a working Streamlit prototype are ready for demonstration.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Normalization up to 3NF</a:t>
            </a:r>
            <a:endParaRPr lang="en-US" sz="3400" dirty="0"/>
          </a:p>
        </p:txBody>
      </p:sp>
      <p:sp>
        <p:nvSpPr>
          <p:cNvPr id="3" name="node"/>
          <p:cNvSpPr/>
          <p:nvPr/>
        </p:nvSpPr>
        <p:spPr>
          <a:xfrm>
            <a:off x="548640" y="1554480"/>
            <a:ext cx="3331464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4592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1NF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30571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row per order line. Atomic values, no repeating item columns.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3971544" y="272491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ode"/>
          <p:cNvSpPr/>
          <p:nvPr/>
        </p:nvSpPr>
        <p:spPr>
          <a:xfrm>
            <a:off x="4428744" y="1554480"/>
            <a:ext cx="3331464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5904" y="164592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2NF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565904" y="2148840"/>
            <a:ext cx="30571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Item name and price depend only on item_id, so they live in food_item.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7851648" y="272491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ode"/>
          <p:cNvSpPr/>
          <p:nvPr/>
        </p:nvSpPr>
        <p:spPr>
          <a:xfrm>
            <a:off x="8308848" y="1554480"/>
            <a:ext cx="3331464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46008" y="164592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3NF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8446008" y="2148840"/>
            <a:ext cx="30571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Customer details and category names moved out of orders and food_item.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Functional dependencies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511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Key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Determines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order_id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customer_id, order_time, status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(order_id, item_id)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quantity, unit_price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item_id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name, category_id, price, is_available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category_id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(item_id, ingredient_id)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qty_per_unit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bill_id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order_id, subtotal, tax, total, status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payment_id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bill_id, amount, method, paid_at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dictionary: core tables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9711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Columns (type)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food_item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item_id INT, category_id INT, name VARCHAR(60), price DECIMAL(8,2), is_available BOOLEAN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ingredient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ingredient_id INT, name VARCHAR(60), unit VARCHAR(10), stock_qty, reorder_level DECIMAL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orders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order_id INT, customer_id INT NULL, order_time DATETIME, status ENUM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order_item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order_id INT, item_id INT, quantity INT, unit_price DECIMAL(8,2)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bill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bill_id INT, order_id INT UNIQUE, subtotal, tax, total DECIMAL, status ENUM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payment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payment_id INT, bill_id INT, amount DECIMAL, method ENUM, paid_at DATETIME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DDL with integrity constraints</a:t>
            </a:r>
            <a:endParaRPr lang="en-US" sz="3400" dirty="0"/>
          </a:p>
        </p:txBody>
      </p:sp>
      <p:sp>
        <p:nvSpPr>
          <p:cNvPr id="3" name="codebox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19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6126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DECIMAL(8,2) NOT NULL CHECK (price &gt; 0),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 INT NOT NULL CHECK (quantity &gt; 0),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stock_qty DECIMAL(10,2) NOT NULL DEFAULT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 (stock_qty &gt;= 0),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ENUM('PLACED','PREPARING','READY',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'SERVED','CANCELLED') DEFAULT 'PLACED',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 VARCHAR(10) UNIQUE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 (phone REGEXP '^[0-9]{10}$')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7406640" y="1371600"/>
            <a:ext cx="42336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"/>
          <p:cNvSpPr/>
          <p:nvPr/>
        </p:nvSpPr>
        <p:spPr>
          <a:xfrm>
            <a:off x="76352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1508760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Primary and foreign keys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28600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Link every table safely.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7406640" y="2971800"/>
            <a:ext cx="42336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dge"/>
          <p:cNvSpPr/>
          <p:nvPr/>
        </p:nvSpPr>
        <p:spPr>
          <a:xfrm>
            <a:off x="763524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352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3108960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 and NOT NULL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388620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Reject bad values.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7406640" y="4572000"/>
            <a:ext cx="42336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7635240" y="4800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352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4709160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UNIQUE and DEFAULT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548640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duplicates, safe defaults.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Business rules enforced by the database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51967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Mechanism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At least one item per order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Trigger trg_ord_bu blocks PREPARING with no items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Positive quantities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CHECK (quantity &gt; 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 unavailable items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Trigger trg_oi_bi on order_item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Valid status transitions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Trigger trg_ord_bu allows only the defined flow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Payment limit, no overpayment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Trigger trg_pay_bi (max 10,000 per payment)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Stock never negative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CHECK (stock_qty &gt;= 0) rolls the update back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Sample data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food items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ingredients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4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customers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orders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326880" y="1463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5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payments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548640" y="3657600"/>
            <a:ext cx="1109167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9476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Edge cases included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57200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 unavailable item, a cancelled order, an unpaid bill, a walk-in order and a low-stock ingredient, so every rule and report can be demonstrated.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SQL queries: joins, subqueries, aggregates</a:t>
            </a:r>
            <a:endParaRPr lang="en-US" sz="3400" dirty="0"/>
          </a:p>
        </p:txBody>
      </p:sp>
      <p:sp>
        <p:nvSpPr>
          <p:cNvPr id="3" name="codebox"/>
          <p:cNvSpPr/>
          <p:nvPr/>
        </p:nvSpPr>
        <p:spPr>
          <a:xfrm>
            <a:off x="548640" y="1371600"/>
            <a:ext cx="3566160" cy="4480560"/>
          </a:xfrm>
          <a:prstGeom prst="roundRect">
            <a:avLst>
              <a:gd name="adj" fmla="val 25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JOIN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o.order_id, f.name,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oi.quantity*oi.unit_price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total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 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order_item oi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oi.order_id=o.order_id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food_item 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f.item_id=oi.item_id;</a:t>
            </a:r>
            <a:endParaRPr lang="en-US" sz="1400" dirty="0"/>
          </a:p>
        </p:txBody>
      </p:sp>
      <p:sp>
        <p:nvSpPr>
          <p:cNvPr id="6" name="codebox"/>
          <p:cNvSpPr/>
          <p:nvPr/>
        </p:nvSpPr>
        <p:spPr>
          <a:xfrm>
            <a:off x="4297680" y="1371600"/>
            <a:ext cx="3566160" cy="4480560"/>
          </a:xfrm>
          <a:prstGeom prst="roundRect">
            <a:avLst>
              <a:gd name="adj" fmla="val 25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481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SUBQUERY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7452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price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food_item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price &gt;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AVG(price)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food_item);</a:t>
            </a:r>
            <a:endParaRPr lang="en-US" sz="1400" dirty="0"/>
          </a:p>
        </p:txBody>
      </p:sp>
      <p:sp>
        <p:nvSpPr>
          <p:cNvPr id="9" name="codebox"/>
          <p:cNvSpPr/>
          <p:nvPr/>
        </p:nvSpPr>
        <p:spPr>
          <a:xfrm>
            <a:off x="8046720" y="1371600"/>
            <a:ext cx="3593592" cy="4480560"/>
          </a:xfrm>
          <a:prstGeom prst="roundRect">
            <a:avLst>
              <a:gd name="adj" fmla="val 254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48132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AGGREGATE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1874520"/>
            <a:ext cx="31363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c.name,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SUM(b.total) AS spent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orders 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o.customer_id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=c.customer_id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bill 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b.order_id=o.order_id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c.customer_id,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c.name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SUM(b.total) &gt; 200;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Views for meaningful reports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0876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v_daily_sales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201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Bills and revenue per day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390138" y="137160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3618738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873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13098" y="150876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v_popular_items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64458" y="2286000"/>
            <a:ext cx="201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Quantity sold per item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231636" y="137160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460236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023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54596" y="150876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v_category_sales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05956" y="2286000"/>
            <a:ext cx="201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Revenue per category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9073134" y="137160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9301734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0173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96094" y="150876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v_pending_orders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347454" y="2286000"/>
            <a:ext cx="201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Orders still in progress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374904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388620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v_ingredient_consumption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663440"/>
            <a:ext cx="201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Ingredients used and left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3390138" y="374904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3618738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61873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213098" y="388620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v_cancellations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664458" y="4663440"/>
            <a:ext cx="201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Cancelled orders and value lost</a:t>
            </a:r>
            <a:endParaRPr lang="en-US" sz="1400" dirty="0"/>
          </a:p>
        </p:txBody>
      </p:sp>
      <p:sp>
        <p:nvSpPr>
          <p:cNvPr id="33" name="card"/>
          <p:cNvSpPr/>
          <p:nvPr/>
        </p:nvSpPr>
        <p:spPr>
          <a:xfrm>
            <a:off x="6231636" y="374904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badge"/>
          <p:cNvSpPr/>
          <p:nvPr/>
        </p:nvSpPr>
        <p:spPr>
          <a:xfrm>
            <a:off x="6460236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60236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054596" y="388620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v_revenue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505956" y="4663440"/>
            <a:ext cx="201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Billed, collected, outstanding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Implementation progress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514807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Component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Schema, constraints, indexes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Triggers and billing procedure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Sample data and SQL queries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Reporting views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Streamlit prototype (all modules)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Built, demonstrated in this review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Final testing and report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Planned for Review 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1"/>
          <p:cNvSpPr/>
          <p:nvPr/>
        </p:nvSpPr>
        <p:spPr>
          <a:xfrm>
            <a:off x="8686800" y="731520"/>
            <a:ext cx="3108960" cy="3108960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2"/>
          <p:cNvSpPr/>
          <p:nvPr/>
        </p:nvSpPr>
        <p:spPr>
          <a:xfrm>
            <a:off x="9966960" y="3566160"/>
            <a:ext cx="1737360" cy="1737360"/>
          </a:xfrm>
          <a:prstGeom prst="ellipse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2801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Next: front-end demo, testing, final report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840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Review 3 (Week 16)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669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teen Spice">
  <a:themeElements>
    <a:clrScheme name="Canteen Spice">
      <a:dk1>
        <a:srgbClr val="2B2118"/>
      </a:dk1>
      <a:lt1>
        <a:srgbClr val="FFFFFF"/>
      </a:lt1>
      <a:dk2>
        <a:srgbClr val="5A3E2B"/>
      </a:dk2>
      <a:lt2>
        <a:srgbClr val="FDEFE3"/>
      </a:lt2>
      <a:accent1>
        <a:srgbClr val="D9480F"/>
      </a:accent1>
      <a:accent2>
        <a:srgbClr val="F2A93B"/>
      </a:accent2>
      <a:accent3>
        <a:srgbClr val="2F7D5B"/>
      </a:accent3>
      <a:accent4>
        <a:srgbClr val="8C2F39"/>
      </a:accent4>
      <a:accent5>
        <a:srgbClr val="6B7A8F"/>
      </a:accent5>
      <a:accent6>
        <a:srgbClr val="B07D4F"/>
      </a:accent6>
      <a:hlink>
        <a:srgbClr val="D9480F"/>
      </a:hlink>
      <a:folHlink>
        <a:srgbClr val="5A3E2B"/>
      </a:folHlink>
    </a:clrScheme>
    <a:fontScheme name="Canteen Sp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Canteen DBMS - Review 2</dc:title>
  <dc:subject>PptxGenJS Presentation</dc:subject>
  <dc:creator>PptxGenJS</dc:creator>
  <cp:lastModifiedBy>PptxGenJS</cp:lastModifiedBy>
  <cp:revision>1</cp:revision>
  <dcterms:created xsi:type="dcterms:W3CDTF">2026-10-14T02:06:58Z</dcterms:created>
  <dcterms:modified xsi:type="dcterms:W3CDTF">2026-10-14T02:06:58Z</dcterms:modified>
</cp:coreProperties>
</file>