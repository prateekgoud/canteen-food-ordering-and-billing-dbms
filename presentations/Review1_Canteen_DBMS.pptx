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 1" id="{476de183-352c-d318-6683-aa50afdf9f9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280160"/>
            <a:ext cx="76809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Canteen Food Ordering &amp; Billing DBMS  |  Project 07  |  Review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1"/>
          <p:cNvSpPr/>
          <p:nvPr/>
        </p:nvSpPr>
        <p:spPr>
          <a:xfrm>
            <a:off x="8686800" y="731520"/>
            <a:ext cx="3108960" cy="3108960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2"/>
          <p:cNvSpPr/>
          <p:nvPr/>
        </p:nvSpPr>
        <p:spPr>
          <a:xfrm>
            <a:off x="9966960" y="3566160"/>
            <a:ext cx="1737360" cy="1737360"/>
          </a:xfrm>
          <a:prstGeom prst="ellipse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2801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Canteen Food Ordering &amp; Billing Management System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840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DBMS Project 07  |  Review 1 (Week 7)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Problem, scope and initial design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669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Presented by: Prateek and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Paper slips slow the canteen down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0020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Delayed service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29657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Handwritten slips get lost or misread, so students wait longer for food.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337304" y="146304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4565904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0264" y="160020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Duplicate orders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11624" y="2377440"/>
            <a:ext cx="29657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same slip reaches the kitchen twice, wasting food and effort.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125968" y="1463040"/>
            <a:ext cx="351434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8354568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48928" y="160020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Stock errors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00288" y="2377440"/>
            <a:ext cx="29657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Ingredient usage is not tracked, so items run out without warning.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548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Our answer: one relational database that tracks every order, ingredient and payment.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Objectives and scope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Objectives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Digitise menu, order, kitchen and billing work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Enforce business rules inside the database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Track ingredient consumption per order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Produce daily sales and revenue reports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6309360" y="1371600"/>
            <a:ext cx="533095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"/>
          <p:cNvSpPr/>
          <p:nvPr/>
        </p:nvSpPr>
        <p:spPr>
          <a:xfrm>
            <a:off x="653796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1508760"/>
            <a:ext cx="4325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 scope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286000"/>
            <a:ext cx="4782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Menu, orders, kitchen status, ingredient stock, billing, payments, sales reports, Streamlit front-end.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309360" y="3840480"/>
            <a:ext cx="533095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adge"/>
          <p:cNvSpPr/>
          <p:nvPr/>
        </p:nvSpPr>
        <p:spPr>
          <a:xfrm>
            <a:off x="6537960" y="4069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3977640"/>
            <a:ext cx="4325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Out of scope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754880"/>
            <a:ext cx="4782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Online payment gateways, delivery tracking, mobile app, multi-canteen support.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Who uses the system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2567178" cy="329184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9164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Admin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01853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Maintains menu, prices, availability and reads sales reports.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390138" y="1554480"/>
            <a:ext cx="2567178" cy="329184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3618738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873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13098" y="169164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Cashier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64458" y="2468880"/>
            <a:ext cx="201853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Takes orders, generates bills and records payments.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231636" y="1554480"/>
            <a:ext cx="2567178" cy="329184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460236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023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54596" y="169164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Kitchen staff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05956" y="2468880"/>
            <a:ext cx="201853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Updates order status and issues ingredients.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9073134" y="1554480"/>
            <a:ext cx="2567178" cy="329184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9301734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0173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96094" y="169164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Customer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347454" y="2468880"/>
            <a:ext cx="201853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Student or staff member, registered or walk-in.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Functional requirements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5448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Menu maintenance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2965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Add items, change price, mark available or unavailable.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337304" y="141732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4565904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0264" y="155448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Order entry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11624" y="2331720"/>
            <a:ext cx="2965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Select customer and items, validate quantities.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125968" y="141732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8354568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48928" y="155448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Kitchen status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00288" y="2331720"/>
            <a:ext cx="2965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Move orders from placed to preparing, ready, served.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48640" y="379476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93192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Ingredient issue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709160"/>
            <a:ext cx="2965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Issue or restock ingredients, flag low stock.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337304" y="379476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4565904" y="4023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65904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60264" y="393192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Billing and payment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611624" y="4709160"/>
            <a:ext cx="2965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Generate bill with 5% tax, accept CASH, UPI or CARD.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8125968" y="3794760"/>
            <a:ext cx="3514344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8354568" y="4023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5456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48928" y="393192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Sales reporting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400288" y="4709160"/>
            <a:ext cx="2965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Daily sales, popular items, revenue, cancellations.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Business rules the database must enforce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7103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Reason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At least one item per order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Empty orders cannot be cooked or billed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Quantity must be positive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Prevents zero or negative lines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 ordering of unavailable items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Kitchen cannot make what is not offered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Valid order-status transitions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Stops skipping stages such as placed to served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Payment limit and no overpayment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Protects against entry mistakes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Stock never below zero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Keeps ingredient records trustworthy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Conceptual design: the principal entities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2567178" cy="329184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9164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Menu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01853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Category, Food item, Ingredient, Recipe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390138" y="1554480"/>
            <a:ext cx="2567178" cy="329184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3618738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873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13098" y="169164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Orders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64458" y="2468880"/>
            <a:ext cx="201853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Customer, Orders, Order item, Kitchen task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231636" y="1554480"/>
            <a:ext cx="2567178" cy="329184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460236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023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54596" y="169164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Billing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05956" y="2468880"/>
            <a:ext cx="201853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Bill, Payment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9073134" y="1554480"/>
            <a:ext cx="2567178" cy="329184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9301734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0173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96094" y="169164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Stock and users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47454" y="2468880"/>
            <a:ext cx="201853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Stock transaction, App user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Relationships between entities</a:t>
            </a:r>
            <a:endParaRPr lang="en-US" sz="3400" dirty="0"/>
          </a:p>
        </p:txBody>
      </p:sp>
      <p:sp>
        <p:nvSpPr>
          <p:cNvPr id="3" name="node"/>
          <p:cNvSpPr/>
          <p:nvPr/>
        </p:nvSpPr>
        <p:spPr>
          <a:xfrm>
            <a:off x="548640" y="1371600"/>
            <a:ext cx="2155698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1881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Category</a:t>
            </a:r>
            <a:endParaRPr lang="en-US" sz="1600" dirty="0"/>
          </a:p>
        </p:txBody>
      </p:sp>
      <p:sp>
        <p:nvSpPr>
          <p:cNvPr id="5" name="arrow"/>
          <p:cNvSpPr/>
          <p:nvPr/>
        </p:nvSpPr>
        <p:spPr>
          <a:xfrm>
            <a:off x="2932938" y="171907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04338" y="1371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: N</a:t>
            </a:r>
            <a:endParaRPr lang="en-US" sz="1200" dirty="0"/>
          </a:p>
        </p:txBody>
      </p:sp>
      <p:sp>
        <p:nvSpPr>
          <p:cNvPr id="7" name="node"/>
          <p:cNvSpPr/>
          <p:nvPr/>
        </p:nvSpPr>
        <p:spPr>
          <a:xfrm>
            <a:off x="3527298" y="1371600"/>
            <a:ext cx="2155698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64458" y="1463040"/>
            <a:ext cx="1881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Food item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5911596" y="171907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82996" y="1371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: N</a:t>
            </a:r>
            <a:endParaRPr lang="en-US" sz="1200" dirty="0"/>
          </a:p>
        </p:txBody>
      </p:sp>
      <p:sp>
        <p:nvSpPr>
          <p:cNvPr id="11" name="node"/>
          <p:cNvSpPr/>
          <p:nvPr/>
        </p:nvSpPr>
        <p:spPr>
          <a:xfrm>
            <a:off x="6505956" y="1371600"/>
            <a:ext cx="2155698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43116" y="1463040"/>
            <a:ext cx="1881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Recipe</a:t>
            </a:r>
            <a:endParaRPr lang="en-US" sz="1600" dirty="0"/>
          </a:p>
        </p:txBody>
      </p:sp>
      <p:sp>
        <p:nvSpPr>
          <p:cNvPr id="13" name="arrow"/>
          <p:cNvSpPr/>
          <p:nvPr/>
        </p:nvSpPr>
        <p:spPr>
          <a:xfrm>
            <a:off x="8890254" y="171907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61654" y="1371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 : 1</a:t>
            </a:r>
            <a:endParaRPr lang="en-US" sz="1200" dirty="0"/>
          </a:p>
        </p:txBody>
      </p:sp>
      <p:sp>
        <p:nvSpPr>
          <p:cNvPr id="15" name="node"/>
          <p:cNvSpPr/>
          <p:nvPr/>
        </p:nvSpPr>
        <p:spPr>
          <a:xfrm>
            <a:off x="9484614" y="1371600"/>
            <a:ext cx="2155698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21774" y="1463040"/>
            <a:ext cx="1881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Ingredient</a:t>
            </a:r>
            <a:endParaRPr lang="en-US" sz="1600" dirty="0"/>
          </a:p>
        </p:txBody>
      </p:sp>
      <p:sp>
        <p:nvSpPr>
          <p:cNvPr id="17" name="node"/>
          <p:cNvSpPr/>
          <p:nvPr/>
        </p:nvSpPr>
        <p:spPr>
          <a:xfrm>
            <a:off x="548640" y="2834640"/>
            <a:ext cx="2155698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2926080"/>
            <a:ext cx="1881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</a:t>
            </a:r>
            <a:endParaRPr lang="en-US" sz="1600" dirty="0"/>
          </a:p>
        </p:txBody>
      </p:sp>
      <p:sp>
        <p:nvSpPr>
          <p:cNvPr id="19" name="arrow"/>
          <p:cNvSpPr/>
          <p:nvPr/>
        </p:nvSpPr>
        <p:spPr>
          <a:xfrm>
            <a:off x="2932938" y="318211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04338" y="2834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: N</a:t>
            </a:r>
            <a:endParaRPr lang="en-US" sz="1200" dirty="0"/>
          </a:p>
        </p:txBody>
      </p:sp>
      <p:sp>
        <p:nvSpPr>
          <p:cNvPr id="21" name="node"/>
          <p:cNvSpPr/>
          <p:nvPr/>
        </p:nvSpPr>
        <p:spPr>
          <a:xfrm>
            <a:off x="3527298" y="2834640"/>
            <a:ext cx="2155698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64458" y="2926080"/>
            <a:ext cx="1881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Orders</a:t>
            </a:r>
            <a:endParaRPr lang="en-US" sz="1600" dirty="0"/>
          </a:p>
        </p:txBody>
      </p:sp>
      <p:sp>
        <p:nvSpPr>
          <p:cNvPr id="23" name="arrow"/>
          <p:cNvSpPr/>
          <p:nvPr/>
        </p:nvSpPr>
        <p:spPr>
          <a:xfrm>
            <a:off x="5911596" y="318211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82996" y="2834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: N</a:t>
            </a:r>
            <a:endParaRPr lang="en-US" sz="1200" dirty="0"/>
          </a:p>
        </p:txBody>
      </p:sp>
      <p:sp>
        <p:nvSpPr>
          <p:cNvPr id="25" name="node"/>
          <p:cNvSpPr/>
          <p:nvPr/>
        </p:nvSpPr>
        <p:spPr>
          <a:xfrm>
            <a:off x="6505956" y="2834640"/>
            <a:ext cx="2155698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43116" y="2926080"/>
            <a:ext cx="1881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Order item</a:t>
            </a:r>
            <a:endParaRPr lang="en-US" sz="1600" dirty="0"/>
          </a:p>
        </p:txBody>
      </p:sp>
      <p:sp>
        <p:nvSpPr>
          <p:cNvPr id="27" name="arrow"/>
          <p:cNvSpPr/>
          <p:nvPr/>
        </p:nvSpPr>
        <p:spPr>
          <a:xfrm>
            <a:off x="8890254" y="318211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61654" y="2834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 : 1</a:t>
            </a:r>
            <a:endParaRPr lang="en-US" sz="1200" dirty="0"/>
          </a:p>
        </p:txBody>
      </p:sp>
      <p:sp>
        <p:nvSpPr>
          <p:cNvPr id="29" name="node"/>
          <p:cNvSpPr/>
          <p:nvPr/>
        </p:nvSpPr>
        <p:spPr>
          <a:xfrm>
            <a:off x="9484614" y="2834640"/>
            <a:ext cx="2155698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21774" y="2926080"/>
            <a:ext cx="1881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Food item</a:t>
            </a:r>
            <a:endParaRPr lang="en-US" sz="1600" dirty="0"/>
          </a:p>
        </p:txBody>
      </p:sp>
      <p:sp>
        <p:nvSpPr>
          <p:cNvPr id="31" name="node"/>
          <p:cNvSpPr/>
          <p:nvPr/>
        </p:nvSpPr>
        <p:spPr>
          <a:xfrm>
            <a:off x="548640" y="4297680"/>
            <a:ext cx="2965704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4389120"/>
            <a:ext cx="2691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Orders</a:t>
            </a:r>
            <a:endParaRPr lang="en-US" sz="1600" dirty="0"/>
          </a:p>
        </p:txBody>
      </p:sp>
      <p:sp>
        <p:nvSpPr>
          <p:cNvPr id="33" name="arrow"/>
          <p:cNvSpPr/>
          <p:nvPr/>
        </p:nvSpPr>
        <p:spPr>
          <a:xfrm>
            <a:off x="3880104" y="464515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14344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: 1</a:t>
            </a:r>
            <a:endParaRPr lang="en-US" sz="1200" dirty="0"/>
          </a:p>
        </p:txBody>
      </p:sp>
      <p:sp>
        <p:nvSpPr>
          <p:cNvPr id="35" name="node"/>
          <p:cNvSpPr/>
          <p:nvPr/>
        </p:nvSpPr>
        <p:spPr>
          <a:xfrm>
            <a:off x="4611624" y="4297680"/>
            <a:ext cx="2965704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48784" y="4389120"/>
            <a:ext cx="2691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Bill</a:t>
            </a:r>
            <a:endParaRPr lang="en-US" sz="1600" dirty="0"/>
          </a:p>
        </p:txBody>
      </p:sp>
      <p:sp>
        <p:nvSpPr>
          <p:cNvPr id="37" name="arrow"/>
          <p:cNvSpPr/>
          <p:nvPr/>
        </p:nvSpPr>
        <p:spPr>
          <a:xfrm>
            <a:off x="7943088" y="464515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77328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: N</a:t>
            </a:r>
            <a:endParaRPr lang="en-US" sz="1200" dirty="0"/>
          </a:p>
        </p:txBody>
      </p:sp>
      <p:sp>
        <p:nvSpPr>
          <p:cNvPr id="39" name="node"/>
          <p:cNvSpPr/>
          <p:nvPr/>
        </p:nvSpPr>
        <p:spPr>
          <a:xfrm>
            <a:off x="8674608" y="4297680"/>
            <a:ext cx="2965704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811768" y="4389120"/>
            <a:ext cx="2691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Payment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Recipe links food items to ingredients (many-to-many). A walk-in order has no customer.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Initial relational schema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39593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Primary key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Foreign keys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app_user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user_id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category_id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food_item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item_id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category_id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ingredient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ingredient_id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recipe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(item_id, ingredient_id)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item_id, ingredient_id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customer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customer_id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orders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order_id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customer_id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order_item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(order_id, item_id)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order_id, item_id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kitchen_task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task_id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(order_id, item_id)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bill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bill_id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order_id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payment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payment_id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bill_id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stock_txn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txn_id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ingredient_id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Tools and project plan</a:t>
            </a:r>
            <a:endParaRPr lang="en-US" sz="3400" dirty="0"/>
          </a:p>
        </p:txBody>
      </p:sp>
      <p:sp>
        <p:nvSpPr>
          <p:cNvPr id="3" name="node"/>
          <p:cNvSpPr/>
          <p:nvPr/>
        </p:nvSpPr>
        <p:spPr>
          <a:xfrm>
            <a:off x="548640" y="1463040"/>
            <a:ext cx="3331464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Review 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3057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Requirements, ER design, initial schema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3971544" y="217627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ode"/>
          <p:cNvSpPr/>
          <p:nvPr/>
        </p:nvSpPr>
        <p:spPr>
          <a:xfrm>
            <a:off x="4428744" y="1463040"/>
            <a:ext cx="3331464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5904" y="155448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Review 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65904" y="2057400"/>
            <a:ext cx="3057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3NF, DDL, sample data, SQL queries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7851648" y="217627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ode"/>
          <p:cNvSpPr/>
          <p:nvPr/>
        </p:nvSpPr>
        <p:spPr>
          <a:xfrm>
            <a:off x="8308848" y="1463040"/>
            <a:ext cx="3331464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46008" y="155448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Review 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446008" y="2057400"/>
            <a:ext cx="3057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Front-end, testing, final demo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749040"/>
            <a:ext cx="256717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88620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MySQL 8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663440"/>
            <a:ext cx="2018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Database engine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3390138" y="3749040"/>
            <a:ext cx="256717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3618738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1873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213098" y="388620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Python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3664458" y="4663440"/>
            <a:ext cx="2018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Application logic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6231636" y="3749040"/>
            <a:ext cx="256717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badge"/>
          <p:cNvSpPr/>
          <p:nvPr/>
        </p:nvSpPr>
        <p:spPr>
          <a:xfrm>
            <a:off x="6460236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60236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54596" y="388620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Streamlit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505956" y="4663440"/>
            <a:ext cx="2018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Web front-end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9073134" y="3749040"/>
            <a:ext cx="256717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badge"/>
          <p:cNvSpPr/>
          <p:nvPr/>
        </p:nvSpPr>
        <p:spPr>
          <a:xfrm>
            <a:off x="9301734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01734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896094" y="388620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GitHub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9347454" y="4663440"/>
            <a:ext cx="2018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Code and deliverables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1"/>
          <p:cNvSpPr/>
          <p:nvPr/>
        </p:nvSpPr>
        <p:spPr>
          <a:xfrm>
            <a:off x="8686800" y="731520"/>
            <a:ext cx="3108960" cy="3108960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2"/>
          <p:cNvSpPr/>
          <p:nvPr/>
        </p:nvSpPr>
        <p:spPr>
          <a:xfrm>
            <a:off x="9966960" y="3566160"/>
            <a:ext cx="1737360" cy="1737360"/>
          </a:xfrm>
          <a:prstGeom prst="ellipse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2801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Next: normalization, DDL and queries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840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Review 2 (Week 11)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669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teen Spice">
  <a:themeElements>
    <a:clrScheme name="Canteen Spice">
      <a:dk1>
        <a:srgbClr val="2B2118"/>
      </a:dk1>
      <a:lt1>
        <a:srgbClr val="FFFFFF"/>
      </a:lt1>
      <a:dk2>
        <a:srgbClr val="5A3E2B"/>
      </a:dk2>
      <a:lt2>
        <a:srgbClr val="FDEFE3"/>
      </a:lt2>
      <a:accent1>
        <a:srgbClr val="D9480F"/>
      </a:accent1>
      <a:accent2>
        <a:srgbClr val="F2A93B"/>
      </a:accent2>
      <a:accent3>
        <a:srgbClr val="2F7D5B"/>
      </a:accent3>
      <a:accent4>
        <a:srgbClr val="8C2F39"/>
      </a:accent4>
      <a:accent5>
        <a:srgbClr val="6B7A8F"/>
      </a:accent5>
      <a:accent6>
        <a:srgbClr val="B07D4F"/>
      </a:accent6>
      <a:hlink>
        <a:srgbClr val="D9480F"/>
      </a:hlink>
      <a:folHlink>
        <a:srgbClr val="5A3E2B"/>
      </a:folHlink>
    </a:clrScheme>
    <a:fontScheme name="Canteen Sp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Canteen DBMS - Review 1</dc:title>
  <dc:subject>PptxGenJS Presentation</dc:subject>
  <dc:creator>PptxGenJS</dc:creator>
  <cp:lastModifiedBy>PptxGenJS</cp:lastModifiedBy>
  <cp:revision>1</cp:revision>
  <dcterms:created xsi:type="dcterms:W3CDTF">2026-10-14T02:06:58Z</dcterms:created>
  <dcterms:modified xsi:type="dcterms:W3CDTF">2026-10-14T02:06:58Z</dcterms:modified>
</cp:coreProperties>
</file>